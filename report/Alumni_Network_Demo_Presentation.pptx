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100584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F4E79"/>
                </a:solidFill>
              </a:rPr>
              <a:t>ALUMNI NETWORK AND ENGAGEMENT PLATFORM</a:t>
            </a:r>
          </a:p>
          <a:p>
            <a:r>
              <a:rPr sz="2400">
                <a:solidFill>
                  <a:srgbClr val="404040"/>
                </a:solidFill>
              </a:rPr>
              <a:t>DA2 - Database Implementation using SQL &amp; PL/SQL</a:t>
            </a:r>
          </a:p>
          <a:p>
            <a:br/>
            <a:r>
              <a:rPr sz="1600">
                <a:solidFill>
                  <a:srgbClr val="404040"/>
                </a:solidFill>
              </a:rPr>
              <a:t>Sagarika Kaistha - 25BCE5091   |   Praveen G - 25BCE5092   |   Daksh Agarwal - 25BCE5098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solidFill>
                  <a:srgbClr val="404040"/>
                </a:solidFill>
              </a:rPr>
              <a:t>From design to working database - implementation pipeline</a:t>
            </a:r>
          </a:p>
          <a:p>
            <a:pPr/>
            <a:r>
              <a:rPr sz="2400">
                <a:solidFill>
                  <a:srgbClr val="404040"/>
                </a:solidFill>
              </a:rPr>
              <a:t>Schema implementation: tables, constraints, indexes</a:t>
            </a:r>
          </a:p>
          <a:p>
            <a:pPr/>
            <a:r>
              <a:rPr sz="2400">
                <a:solidFill>
                  <a:srgbClr val="404040"/>
                </a:solidFill>
              </a:rPr>
              <a:t>PL/SQL layer: sequences, triggers, procedures, functions, package</a:t>
            </a:r>
          </a:p>
          <a:p>
            <a:pPr/>
            <a:r>
              <a:rPr sz="2400">
                <a:solidFill>
                  <a:srgbClr val="404040"/>
                </a:solidFill>
              </a:rPr>
              <a:t>Verification: every rule tested against the live database</a:t>
            </a:r>
          </a:p>
          <a:p>
            <a:pPr/>
            <a:r>
              <a:rPr sz="2400">
                <a:solidFill>
                  <a:srgbClr val="404040"/>
                </a:solidFill>
              </a:rPr>
              <a:t>Live demonstration walkthrough</a:t>
            </a:r>
          </a:p>
          <a:p>
            <a:pPr/>
            <a:r>
              <a:rPr sz="2400">
                <a:solidFill>
                  <a:srgbClr val="404040"/>
                </a:solidFill>
              </a:rPr>
              <a:t>Conclusion and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Implementation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2468880" cy="1463040"/>
          </a:xfrm>
          <a:prstGeom prst="rect">
            <a:avLst/>
          </a:prstGeom>
          <a:solidFill>
            <a:srgbClr val="EEF3F9"/>
          </a:solidFill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1F4E79"/>
                </a:solidFill>
              </a:rPr>
              <a:t>01_schema.sql</a:t>
            </a:r>
          </a:p>
          <a:p>
            <a:r>
              <a:rPr sz="1400">
                <a:solidFill>
                  <a:srgbClr val="404040"/>
                </a:solidFill>
              </a:rPr>
              <a:t>DDL +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377440"/>
            <a:ext cx="2468880" cy="1463040"/>
          </a:xfrm>
          <a:prstGeom prst="rect">
            <a:avLst/>
          </a:prstGeom>
          <a:solidFill>
            <a:srgbClr val="EEF3F9"/>
          </a:solidFill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1F4E79"/>
                </a:solidFill>
              </a:rPr>
              <a:t>02_plsql.sql</a:t>
            </a:r>
          </a:p>
          <a:p>
            <a:r>
              <a:rPr sz="1400">
                <a:solidFill>
                  <a:srgbClr val="404040"/>
                </a:solidFill>
              </a:rPr>
              <a:t>PL/SQL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2377440"/>
            <a:ext cx="2468880" cy="1463040"/>
          </a:xfrm>
          <a:prstGeom prst="rect">
            <a:avLst/>
          </a:prstGeom>
          <a:solidFill>
            <a:srgbClr val="EEF3F9"/>
          </a:solidFill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1F4E79"/>
                </a:solidFill>
              </a:rPr>
              <a:t>03_seed_data.sql</a:t>
            </a:r>
          </a:p>
          <a:p>
            <a:r>
              <a:rPr sz="1400">
                <a:solidFill>
                  <a:srgbClr val="404040"/>
                </a:solidFill>
              </a:rPr>
              <a:t>sample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59" y="2377440"/>
            <a:ext cx="2468880" cy="1463040"/>
          </a:xfrm>
          <a:prstGeom prst="rect">
            <a:avLst/>
          </a:prstGeom>
          <a:solidFill>
            <a:srgbClr val="EEF3F9"/>
          </a:solidFill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1F4E79"/>
                </a:solidFill>
              </a:rPr>
              <a:t>04_demo_queries.sql</a:t>
            </a:r>
          </a:p>
          <a:p>
            <a:r>
              <a:rPr sz="1400">
                <a:solidFill>
                  <a:srgbClr val="404040"/>
                </a:solidFill>
              </a:rPr>
              <a:t>verification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2377440"/>
          </a:xfrm>
          <a:prstGeom prst="rect">
            <a:avLst/>
          </a:prstGeom>
          <a:solidFill>
            <a:srgbClr val="EEF3F9"/>
          </a:solidFill>
        </p:spPr>
        <p:txBody>
          <a:bodyPr wrap="none">
            <a:spAutoFit/>
          </a:bodyPr>
          <a:lstStyle/>
          <a:p>
            <a:r>
              <a:rPr sz="1200">
                <a:latin typeface="Courier New"/>
              </a:rPr>
              <a:t>sqlplus alumni/alumni123@localhost:1521/FREEPDB1</a:t>
            </a:r>
          </a:p>
          <a:p>
            <a:r>
              <a:rPr sz="1200">
                <a:latin typeface="Courier New"/>
              </a:rPr>
              <a:t>@sql/01_schema.sql &amp;&amp; @sql/02_plsql.sql &amp;&amp; @sql/03_seed_data.sql &amp;&amp; @sql/04_demo_queries.sql</a:t>
            </a:r>
          </a:p>
          <a:p>
            <a:r>
              <a:rPr sz="1200">
                <a:latin typeface="Courier New"/>
              </a:rPr>
              <a:t># zero ORA errors on clean build - logs/run_*.log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What Was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04040"/>
                </a:solidFill>
              </a:rPr>
              <a:t>22 tables - supertype PERSON with ALUMNI / STUDENT / ADMIN subtypes</a:t>
            </a:r>
          </a:p>
          <a:p>
            <a:pPr/>
            <a:r>
              <a:rPr sz="2200">
                <a:solidFill>
                  <a:srgbClr val="404040"/>
                </a:solidFill>
              </a:rPr>
              <a:t>30 foreign keys, 22 primary keys (composite on junction tables), 12 UNIQUE, 65 CHECK constraints</a:t>
            </a:r>
          </a:p>
          <a:p>
            <a:pPr/>
            <a:r>
              <a:rPr sz="2200">
                <a:solidFill>
                  <a:srgbClr val="404040"/>
                </a:solidFill>
              </a:rPr>
              <a:t>61 indexes incl. all 18 recommended in the DA1 design document</a:t>
            </a:r>
          </a:p>
          <a:p>
            <a:pPr/>
            <a:r>
              <a:rPr sz="2200">
                <a:solidFill>
                  <a:srgbClr val="404040"/>
                </a:solidFill>
              </a:rPr>
              <a:t>3 design views: AlumniProfileView, EventSummaryView, DonationSummaryView</a:t>
            </a:r>
          </a:p>
          <a:p>
            <a:pPr/>
            <a:r>
              <a:rPr sz="2200">
                <a:solidFill>
                  <a:srgbClr val="404040"/>
                </a:solidFill>
              </a:rPr>
              <a:t>Sample data: 15 persons, 10 alumni, 5 events, 12 donations, 6 jobs, 4 mentorships, full forum thread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Design -&gt; Oracle Mapping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04040"/>
                </a:solidFill>
              </a:rPr>
              <a:t>BOOLEAN -&gt; NUMBER(1) CHECK IN (0,1)</a:t>
            </a:r>
          </a:p>
          <a:p>
            <a:pPr/>
            <a:r>
              <a:rPr sz="2200">
                <a:solidFill>
                  <a:srgbClr val="404040"/>
                </a:solidFill>
              </a:rPr>
              <a:t>TEXT -&gt; CLOB; VARCHAR -&gt; VARCHAR2</a:t>
            </a:r>
          </a:p>
          <a:p>
            <a:pPr/>
            <a:r>
              <a:rPr sz="2200">
                <a:solidFill>
                  <a:srgbClr val="404040"/>
                </a:solidFill>
              </a:rPr>
              <a:t>AUTO_INCREMENT -&gt; SEQUENCE + BEFORE INSERT trigger (17 key triggers)</a:t>
            </a:r>
          </a:p>
          <a:p>
            <a:pPr/>
            <a:r>
              <a:rPr sz="2200">
                <a:solidFill>
                  <a:srgbClr val="404040"/>
                </a:solidFill>
              </a:rPr>
              <a:t>DATETIME DEFAULT NOW() -&gt; TIMESTAMP DEFAULT SYSTIMESTAMP</a:t>
            </a:r>
          </a:p>
          <a:p>
            <a:pPr/>
            <a:r>
              <a:rPr sz="2200">
                <a:solidFill>
                  <a:srgbClr val="404040"/>
                </a:solidFill>
              </a:rPr>
              <a:t>TIME -&gt; VARCHAR2(5) with REGEXP 'HH24:MI' check (no TIME type in Oracle)</a:t>
            </a:r>
          </a:p>
          <a:p>
            <a:pPr/>
            <a:r>
              <a:rPr sz="2200">
                <a:solidFill>
                  <a:srgbClr val="404040"/>
                </a:solidFill>
              </a:rPr>
              <a:t>ON UPDATE CASCADE omitted - not supported by Oracle (documented)</a:t>
            </a:r>
          </a:p>
          <a:p>
            <a:pPr/>
            <a:r>
              <a:rPr sz="2200">
                <a:solidFill>
                  <a:srgbClr val="404040"/>
                </a:solidFill>
              </a:rPr>
              <a:t>COMMENT table renamed COMMENT_TABLE (SQL*Plus keyword clash)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Auto-Increment via Sequences +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2926080"/>
          </a:xfrm>
          <a:prstGeom prst="rect">
            <a:avLst/>
          </a:prstGeom>
          <a:solidFill>
            <a:srgbClr val="EEF3F9"/>
          </a:solidFill>
        </p:spPr>
        <p:txBody>
          <a:bodyPr wrap="none">
            <a:spAutoFit/>
          </a:bodyPr>
          <a:lstStyle/>
          <a:p>
            <a:r>
              <a:rPr sz="1400">
                <a:latin typeface="Courier New"/>
              </a:rPr>
              <a:t>CREATE SEQUENCE seq_person START WITH 1 INCREMENT BY 1 NOCACHE;</a:t>
            </a:r>
          </a:p>
          <a:p>
            <a:r>
              <a:rPr sz="1400">
                <a:latin typeface="Courier New"/>
              </a:rPr>
              <a:t> </a:t>
            </a:r>
          </a:p>
          <a:p>
            <a:r>
              <a:rPr sz="1400">
                <a:latin typeface="Courier New"/>
              </a:rPr>
              <a:t>CREATE OR REPLACE TRIGGER trg_person_bi BEFORE INSERT ON PERSON</a:t>
            </a:r>
          </a:p>
          <a:p>
            <a:r>
              <a:rPr sz="1400">
                <a:latin typeface="Courier New"/>
              </a:rPr>
              <a:t>FOR EACH ROW</a:t>
            </a:r>
          </a:p>
          <a:p>
            <a:r>
              <a:rPr sz="1400">
                <a:latin typeface="Courier New"/>
              </a:rPr>
              <a:t>BEGIN</a:t>
            </a:r>
          </a:p>
          <a:p>
            <a:r>
              <a:rPr sz="1400">
                <a:latin typeface="Courier New"/>
              </a:rPr>
              <a:t>    :NEW.PersonID := NVL(:NEW.PersonID, seq_person.NEXTVAL);</a:t>
            </a:r>
          </a:p>
          <a:p>
            <a:r>
              <a:rPr sz="1400">
                <a:latin typeface="Courier New"/>
              </a:rPr>
              <a:t>END;</a:t>
            </a:r>
          </a:p>
          <a:p>
            <a:r>
              <a:rPr sz="1400">
                <a:latin typeface="Courier New"/>
              </a:rPr>
              <a:t>/</a:t>
            </a:r>
          </a:p>
          <a:p>
            <a:r>
              <a:rPr sz="1400">
                <a:latin typeface="Courier New"/>
              </a:rPr>
              <a:t>-- INSERT INTO PERSON (...) VALUES (...);  -- ID assigned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404040"/>
                </a:solidFill>
              </a:rPr>
              <a:t>18 NOCACHE sequences -&gt; deterministic IDs for seed data &amp; demos</a:t>
            </a:r>
          </a:p>
          <a:p>
            <a:pPr/>
            <a:r>
              <a:rPr sz="1800">
                <a:solidFill>
                  <a:srgbClr val="404040"/>
                </a:solidFill>
              </a:rPr>
              <a:t>INSERT statements never need to supply surrogate keys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Business-Rule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900">
                <a:solidFill>
                  <a:srgbClr val="404040"/>
                </a:solidFill>
              </a:rPr>
              <a:t>R1  TRG_DONATION_BUSINESS     no future donations; auto receipt RCP-&lt;seq&gt;-&lt;yyyy&gt;      ORA-20001</a:t>
            </a:r>
          </a:p>
          <a:p>
            <a:pPr/>
            <a:r>
              <a:rPr sz="1900">
                <a:solidFill>
                  <a:srgbClr val="404040"/>
                </a:solidFill>
              </a:rPr>
              <a:t>R2  TRG_EVENTREG_BUSINESS     capacity enforcement + no late registrations             ORA-20002/-20005</a:t>
            </a:r>
          </a:p>
          <a:p>
            <a:pPr/>
            <a:r>
              <a:rPr sz="1900">
                <a:solidFill>
                  <a:srgbClr val="404040"/>
                </a:solidFill>
              </a:rPr>
              <a:t>R3  TRG_MENTORSHIP_BUSINESS   mentor &lt;&gt; mentee; end &gt;= start; auto-complete           ORA-20003/-20006</a:t>
            </a:r>
          </a:p>
          <a:p>
            <a:pPr/>
            <a:r>
              <a:rPr sz="1900">
                <a:solidFill>
                  <a:srgbClr val="404040"/>
                </a:solidFill>
              </a:rPr>
              <a:t>R4  TRG_JOB_BUSINESS          expiry must be after posting date                        ORA-20004</a:t>
            </a:r>
          </a:p>
          <a:p>
            <a:pPr/>
            <a:r>
              <a:rPr sz="1900">
                <a:solidFill>
                  <a:srgbClr val="404040"/>
                </a:solidFill>
              </a:rPr>
              <a:t>R5  TRG_ALUMNI_AUDIT          AFTER row trigger writes full audit trail to ALUMNI_AUDIT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80560"/>
            <a:ext cx="10698480" cy="1737360"/>
          </a:xfrm>
          <a:prstGeom prst="rect">
            <a:avLst/>
          </a:prstGeom>
          <a:solidFill>
            <a:srgbClr val="EEF3F9"/>
          </a:solidFill>
        </p:spPr>
        <p:txBody>
          <a:bodyPr wrap="none">
            <a:spAutoFit/>
          </a:bodyPr>
          <a:lstStyle/>
          <a:p>
            <a:r>
              <a:rPr sz="1300">
                <a:latin typeface="Courier New"/>
              </a:rPr>
              <a:t>IF v_booked &gt;= v_capacity THEN</a:t>
            </a:r>
          </a:p>
          <a:p>
            <a:r>
              <a:rPr sz="1300">
                <a:latin typeface="Courier New"/>
              </a:rPr>
              <a:t>    RAISE_APPLICATION_ERROR(-20002,</a:t>
            </a:r>
          </a:p>
          <a:p>
            <a:r>
              <a:rPr sz="1300">
                <a:latin typeface="Courier New"/>
              </a:rPr>
              <a:t>        'Event is FULL (' || v_booked || '/' || v_capacity ||</a:t>
            </a:r>
          </a:p>
          <a:p>
            <a:r>
              <a:rPr sz="1300">
                <a:latin typeface="Courier New"/>
              </a:rPr>
              <a:t>        ' seats taken). Registration rejected.');</a:t>
            </a:r>
          </a:p>
          <a:p>
            <a:r>
              <a:rPr sz="1300">
                <a:latin typeface="Courier New"/>
              </a:rPr>
              <a:t>END IF;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Stored Procedures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100">
                <a:solidFill>
                  <a:srgbClr val="404040"/>
                </a:solidFill>
              </a:rPr>
              <a:t>sp_register_event(alumni, event)      duplicate-safe event registration</a:t>
            </a:r>
          </a:p>
          <a:p>
            <a:pPr/>
            <a:r>
              <a:rPr sz="2100">
                <a:solidFill>
                  <a:srgbClr val="404040"/>
                </a:solidFill>
              </a:rPr>
              <a:t>sp_record_donation(donor, amt, ...)   OUT receipt generated via RETURNING INTO</a:t>
            </a:r>
          </a:p>
          <a:p>
            <a:pPr/>
            <a:r>
              <a:rPr sz="2100">
                <a:solidFill>
                  <a:srgbClr val="404040"/>
                </a:solidFill>
              </a:rPr>
              <a:t>sp_apply_to_job(job, applicant)       rejects closed / expired / duplicate applications</a:t>
            </a:r>
          </a:p>
          <a:p>
            <a:pPr/>
            <a:r>
              <a:rPr sz="2100">
                <a:solidFill>
                  <a:srgbClr val="404040"/>
                </a:solidFill>
              </a:rPr>
              <a:t>sp_close_mentorship(id, end, fb, rating)  FOR UPDATE lock; ACTIVE-only closable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554480"/>
          </a:xfrm>
          <a:prstGeom prst="rect">
            <a:avLst/>
          </a:prstGeom>
          <a:solidFill>
            <a:srgbClr val="EEF3F9"/>
          </a:solidFill>
        </p:spPr>
        <p:txBody>
          <a:bodyPr wrap="none">
            <a:spAutoFit/>
          </a:bodyPr>
          <a:lstStyle/>
          <a:p>
            <a:r>
              <a:rPr sz="1400">
                <a:latin typeface="Courier New"/>
              </a:rPr>
              <a:t>SQL&gt; EXEC sp_record_donation(6, 5000, 'Online', 'General Fund', :v);</a:t>
            </a:r>
          </a:p>
          <a:p>
            <a:r>
              <a:rPr sz="1400">
                <a:latin typeface="Courier New"/>
              </a:rPr>
              <a:t>[OK] Donation of Rs.5000.00 recorded from Ananya Iyer. Receipt: RCP-1012-2026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Functions &amp; Package PKG_ALUMNI_REPORTS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404040"/>
                </a:solidFill>
              </a:rPr>
              <a:t>fn_total_donations(person_id)   lifetime donation total</a:t>
            </a:r>
          </a:p>
          <a:p>
            <a:pPr/>
            <a:r>
              <a:rPr sz="2000">
                <a:solidFill>
                  <a:srgbClr val="404040"/>
                </a:solidFill>
              </a:rPr>
              <a:t>fn_event_occupancy(event_id)    occupancy % (NULL if unlimited)</a:t>
            </a:r>
          </a:p>
          <a:p>
            <a:pPr/>
            <a:r>
              <a:rPr sz="2000">
                <a:solidFill>
                  <a:srgbClr val="404040"/>
                </a:solidFill>
              </a:rPr>
              <a:t>fn_active_mentees(mentor_id)    active mentee count</a:t>
            </a:r>
          </a:p>
          <a:p>
            <a:pPr/>
            <a:r>
              <a:rPr sz="2000">
                <a:solidFill>
                  <a:srgbClr val="404040"/>
                </a:solidFill>
              </a:rPr>
              <a:t>pkg.top_donors(n)               explicit cursor + RANK() analytical</a:t>
            </a:r>
          </a:p>
          <a:p>
            <a:pPr/>
            <a:r>
              <a:rPr sz="2000">
                <a:solidFill>
                  <a:srgbClr val="404040"/>
                </a:solidFill>
              </a:rPr>
              <a:t>pkg.dept_alumni_summary         department-wise statistics</a:t>
            </a:r>
          </a:p>
          <a:p>
            <a:pPr/>
            <a:r>
              <a:rPr sz="2000">
                <a:solidFill>
                  <a:srgbClr val="404040"/>
                </a:solidFill>
              </a:rPr>
              <a:t>pkg.get_alumni_skills(id)       skill list via cursor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solidFill>
            <a:srgbClr val="EEF3F9"/>
          </a:solidFill>
        </p:spPr>
        <p:txBody>
          <a:bodyPr wrap="none">
            <a:spAutoFit/>
          </a:bodyPr>
          <a:lstStyle/>
          <a:p>
            <a:r>
              <a:rPr sz="1300">
                <a:latin typeface="Courier New"/>
              </a:rPr>
              <a:t>---- TOP 5 DONORS ----</a:t>
            </a:r>
          </a:p>
          <a:p>
            <a:r>
              <a:rPr sz="1300">
                <a:latin typeface="Courier New"/>
              </a:rPr>
              <a:t>RANK  ID    NAME                AMOUNT</a:t>
            </a:r>
          </a:p>
          <a:p>
            <a:r>
              <a:rPr sz="1300">
                <a:latin typeface="Courier New"/>
              </a:rPr>
              <a:t>1     1     Rahul Sharma        75000.00</a:t>
            </a:r>
          </a:p>
          <a:p>
            <a:r>
              <a:rPr sz="1300">
                <a:latin typeface="Courier New"/>
              </a:rPr>
              <a:t>1     2     Priya Menon         75000.00</a:t>
            </a:r>
          </a:p>
          <a:p>
            <a:r>
              <a:rPr sz="1300">
                <a:latin typeface="Courier New"/>
              </a:rPr>
              <a:t>3     10    Meera Krishnan      60000.00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Verification - Every Rule Tested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3291840"/>
          </a:xfrm>
          <a:prstGeom prst="rect">
            <a:avLst/>
          </a:prstGeom>
          <a:solidFill>
            <a:srgbClr val="EEF3F9"/>
          </a:solidFill>
        </p:spPr>
        <p:txBody>
          <a:bodyPr wrap="none">
            <a:spAutoFit/>
          </a:bodyPr>
          <a:lstStyle/>
          <a:p>
            <a:r>
              <a:rPr sz="1400">
                <a:latin typeface="Courier New"/>
              </a:rPr>
              <a:t>CAUGHT: ORA-20001: Donation date cannot be in the future: 31-AUG-2026</a:t>
            </a:r>
          </a:p>
          <a:p>
            <a:r>
              <a:rPr sz="1400">
                <a:latin typeface="Courier New"/>
              </a:rPr>
              <a:t>CAUGHT: ORA-20002: Event is FULL (3/3 seats taken). Registration rejected.</a:t>
            </a:r>
          </a:p>
          <a:p>
            <a:r>
              <a:rPr sz="1400">
                <a:latin typeface="Courier New"/>
              </a:rPr>
              <a:t>CAUGHT: ORA-20003: Invalid mentorship: MentorID and MenteeID are the same person.</a:t>
            </a:r>
          </a:p>
          <a:p>
            <a:r>
              <a:rPr sz="1400">
                <a:latin typeface="Courier New"/>
              </a:rPr>
              <a:t>CAUGHT: ORA-20004: Job expiry date must be after the posting date.</a:t>
            </a:r>
          </a:p>
          <a:p>
            <a:r>
              <a:rPr sz="1400">
                <a:latin typeface="Courier New"/>
              </a:rPr>
              <a:t>CAUGHT: ORA-20205: You have already applied to "Senior Backend Developer".</a:t>
            </a:r>
          </a:p>
          <a:p>
            <a:r>
              <a:rPr sz="1400">
                <a:latin typeface="Courier New"/>
              </a:rPr>
              <a:t> </a:t>
            </a:r>
          </a:p>
          <a:p>
            <a:r>
              <a:rPr sz="1400">
                <a:latin typeface="Courier New"/>
              </a:rPr>
              <a:t>[OK] Alumnus #6 registered for "Annual Tech Meetup" (#5)</a:t>
            </a:r>
          </a:p>
          <a:p>
            <a:r>
              <a:rPr sz="1400">
                <a:latin typeface="Courier New"/>
              </a:rPr>
              <a:t>[OK] Application submitted for "Product Management Intern" (#2)</a:t>
            </a:r>
          </a:p>
          <a:p>
            <a:r>
              <a:rPr sz="1400">
                <a:latin typeface="Courier New"/>
              </a:rPr>
              <a:t>[OK] Mentorship #2 marked Completed (rating: 5/5).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900">
                <a:solidFill>
                  <a:srgbClr val="404040"/>
                </a:solidFill>
              </a:rPr>
              <a:t>Clean build: zero errors; all 100+ objects VALID in USER_OBJECTS</a:t>
            </a:r>
          </a:p>
          <a:p>
            <a:pPr/>
            <a:r>
              <a:rPr sz="1900">
                <a:solidFill>
                  <a:srgbClr val="404040"/>
                </a:solidFill>
              </a:rPr>
              <a:t>Evidence captured in logs/run_01...04 spool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Demonstration Queries - SQL Feature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04040"/>
                </a:solidFill>
              </a:rPr>
              <a:t>Joins (inner/left, 3-4 tables) + LISTAGG aggregation                    Q1-Q2</a:t>
            </a:r>
          </a:p>
          <a:p>
            <a:pPr/>
            <a:r>
              <a:rPr sz="2200">
                <a:solidFill>
                  <a:srgbClr val="404040"/>
                </a:solidFill>
              </a:rPr>
              <a:t>GROUP BY + HAVING; average-comparison subquery                          Q3-Q4</a:t>
            </a:r>
          </a:p>
          <a:p>
            <a:pPr/>
            <a:r>
              <a:rPr sz="2200">
                <a:solidFill>
                  <a:srgbClr val="404040"/>
                </a:solidFill>
              </a:rPr>
              <a:t>Correlated NOT EXISTS                                                   Q5</a:t>
            </a:r>
          </a:p>
          <a:p>
            <a:pPr/>
            <a:r>
              <a:rPr sz="2200">
                <a:solidFill>
                  <a:srgbClr val="404040"/>
                </a:solidFill>
              </a:rPr>
              <a:t>Analytical RANK() over registrations                                    Q6</a:t>
            </a:r>
          </a:p>
          <a:p>
            <a:pPr/>
            <a:r>
              <a:rPr sz="2200">
                <a:solidFill>
                  <a:srgbClr val="404040"/>
                </a:solidFill>
              </a:rPr>
              <a:t>CONNECT BY PRIOR over self-referencing comment tree                     Q7</a:t>
            </a:r>
          </a:p>
          <a:p>
            <a:pPr/>
            <a:r>
              <a:rPr sz="2200">
                <a:solidFill>
                  <a:srgbClr val="404040"/>
                </a:solidFill>
              </a:rPr>
              <a:t>Views | SAVEPOINT/ROLLBACK | functions/package calls | audit trail      Q8-Q14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Live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04040"/>
                </a:solidFill>
              </a:rPr>
              <a:t>1. Show schema inventory (USER_TABLES / row counts)</a:t>
            </a:r>
          </a:p>
          <a:p>
            <a:pPr/>
            <a:r>
              <a:rPr sz="2200">
                <a:solidFill>
                  <a:srgbClr val="404040"/>
                </a:solidFill>
              </a:rPr>
              <a:t>2. Run Q1-Q7 queries - joins to hierarchical comments</a:t>
            </a:r>
          </a:p>
          <a:p>
            <a:pPr/>
            <a:r>
              <a:rPr sz="2200">
                <a:solidFill>
                  <a:srgbClr val="404040"/>
                </a:solidFill>
              </a:rPr>
              <a:t>3. Register alumnus for an event via procedure; then attempt one more seat on FULL reunion</a:t>
            </a:r>
          </a:p>
          <a:p>
            <a:pPr/>
            <a:r>
              <a:rPr sz="2200">
                <a:solidFill>
                  <a:srgbClr val="404040"/>
                </a:solidFill>
              </a:rPr>
              <a:t>4. Record donation -&gt; show generated receipt number</a:t>
            </a:r>
          </a:p>
          <a:p>
            <a:pPr/>
            <a:r>
              <a:rPr sz="2200">
                <a:solidFill>
                  <a:srgbClr val="404040"/>
                </a:solidFill>
              </a:rPr>
              <a:t>5. Duplicate job application -&gt; friendly rejection</a:t>
            </a:r>
          </a:p>
          <a:p>
            <a:pPr/>
            <a:r>
              <a:rPr sz="2200">
                <a:solidFill>
                  <a:srgbClr val="404040"/>
                </a:solidFill>
              </a:rPr>
              <a:t>6. Close a mentorship with rating; query MENTORSHIP</a:t>
            </a:r>
          </a:p>
          <a:p>
            <a:pPr/>
            <a:r>
              <a:rPr sz="2200">
                <a:solidFill>
                  <a:srgbClr val="404040"/>
                </a:solidFill>
              </a:rPr>
              <a:t>7. Show ALUMNI_AUDIT rows written automatically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300">
                <a:solidFill>
                  <a:srgbClr val="404040"/>
                </a:solidFill>
              </a:rPr>
              <a:t>Complete DA1 design implemented as a running Oracle database</a:t>
            </a:r>
          </a:p>
          <a:p>
            <a:pPr/>
            <a:r>
              <a:rPr sz="2300">
                <a:solidFill>
                  <a:srgbClr val="404040"/>
                </a:solidFill>
              </a:rPr>
              <a:t>Integrity enforced at two levels: declarative constraints + PL/SQL business rules</a:t>
            </a:r>
          </a:p>
          <a:p>
            <a:pPr/>
            <a:r>
              <a:rPr sz="2300">
                <a:solidFill>
                  <a:srgbClr val="404040"/>
                </a:solidFill>
              </a:rPr>
              <a:t>Fully scripted and reproducible (works on Live SQL / lab Oracle 11g+)</a:t>
            </a:r>
          </a:p>
          <a:p>
            <a:pPr/>
            <a:r>
              <a:rPr sz="2300">
                <a:solidFill>
                  <a:srgbClr val="404040"/>
                </a:solidFill>
              </a:rPr>
              <a:t>Future work: application front-end, partitioning, roles, REST API over package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1F4E79"/>
                </a:solidFill>
              </a:rPr>
              <a:t>Thank You 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