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5B2C6F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4114800"/>
            <a:ext cx="4572000" cy="4572000"/>
          </a:xfrm>
          <a:prstGeom prst="ellipse">
            <a:avLst/>
          </a:prstGeom>
          <a:solidFill>
            <a:srgbClr val="8E44AD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-1828800"/>
            <a:ext cx="2743200" cy="2743200"/>
          </a:xfrm>
          <a:prstGeom prst="ellipse">
            <a:avLst/>
          </a:prstGeom>
          <a:solidFill>
            <a:srgbClr val="D4A843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914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Vellore Institute of Technology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7280" y="1325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Science and Engineering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97280" y="210312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ALUMNI NETWORK AND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ENGAGEMENT PLATFORM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1097280" y="3657600"/>
            <a:ext cx="2286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3931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D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Systems Project  |  DA1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Systems (CSE2005)  |  DA1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97280" y="5120640"/>
            <a:ext cx="5029200" cy="1188720"/>
          </a:xfrm>
          <a:prstGeom prst="rect">
            <a:avLst/>
          </a:prstGeom>
          <a:solidFill>
            <a:srgbClr val="5B2C6F">
              <a:alpha val="60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325880" y="5166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325880" y="546811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Sagarika Kaistha - 25BCE5091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25880" y="57150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Praveen G - 25BCE5092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25880" y="59618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Daksh Agarwal - 25BCE5098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5B2C6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Cover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537460" cy="4754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2537460" cy="54864"/>
          </a:xfrm>
          <a:prstGeom prst="rect">
            <a:avLst/>
          </a:prstGeom>
          <a:solidFill>
            <a:srgbClr val="5B2C6F"/>
          </a:solidFill>
          <a:ln/>
        </p:spPr>
      </p:sp>
      <p:sp>
        <p:nvSpPr>
          <p:cNvPr id="6" name="Shape 4"/>
          <p:cNvSpPr/>
          <p:nvPr/>
        </p:nvSpPr>
        <p:spPr>
          <a:xfrm>
            <a:off x="1360170" y="1645920"/>
            <a:ext cx="731520" cy="731520"/>
          </a:xfrm>
          <a:prstGeom prst="ellipse">
            <a:avLst/>
          </a:prstGeom>
          <a:solidFill>
            <a:srgbClr val="5B2C6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762" y="1810512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606040"/>
            <a:ext cx="2354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2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Model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" y="3017520"/>
            <a:ext cx="22631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&amp; Attributes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 &amp; Participation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Strong Entities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68980" y="1280160"/>
            <a:ext cx="2537460" cy="4754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68980" y="1280160"/>
            <a:ext cx="2537460" cy="54864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12" name="Shape 9"/>
          <p:cNvSpPr/>
          <p:nvPr/>
        </p:nvSpPr>
        <p:spPr>
          <a:xfrm>
            <a:off x="4171950" y="1645920"/>
            <a:ext cx="731520" cy="731520"/>
          </a:xfrm>
          <a:prstGeom prst="ellipse">
            <a:avLst/>
          </a:prstGeom>
          <a:solidFill>
            <a:srgbClr val="8E44AD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6542" y="1810512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60420" y="2606040"/>
            <a:ext cx="2354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2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 Model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406140" y="3017520"/>
            <a:ext cx="22631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 Hierarchy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 Relationship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Hierarchies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080760" y="1280160"/>
            <a:ext cx="2537460" cy="4754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080760" y="1280160"/>
            <a:ext cx="2537460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8" name="Shape 14"/>
          <p:cNvSpPr/>
          <p:nvPr/>
        </p:nvSpPr>
        <p:spPr>
          <a:xfrm>
            <a:off x="6983730" y="1645920"/>
            <a:ext cx="731520" cy="731520"/>
          </a:xfrm>
          <a:prstGeom prst="ellipse">
            <a:avLst/>
          </a:prstGeom>
          <a:solidFill>
            <a:srgbClr val="27AE60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8322" y="1810512"/>
            <a:ext cx="402336" cy="40233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172200" y="2606040"/>
            <a:ext cx="2354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2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217920" y="3017520"/>
            <a:ext cx="22631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1NF through BCNF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Dependencies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Decomposition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Tables Normalized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8892540" y="1280160"/>
            <a:ext cx="2537460" cy="4754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892540" y="1280160"/>
            <a:ext cx="253746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4" name="Shape 19"/>
          <p:cNvSpPr/>
          <p:nvPr/>
        </p:nvSpPr>
        <p:spPr>
          <a:xfrm>
            <a:off x="9795510" y="1645920"/>
            <a:ext cx="731520" cy="731520"/>
          </a:xfrm>
          <a:prstGeom prst="ellipse">
            <a:avLst/>
          </a:prstGeom>
          <a:solidFill>
            <a:srgbClr val="D4A843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0102" y="1810512"/>
            <a:ext cx="402336" cy="40233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983980" y="2606040"/>
            <a:ext cx="2354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2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Schema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9029700" y="3017520"/>
            <a:ext cx="22631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&amp; Keys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Referential Integrity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FK Relationships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5B2C6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12648" y="1371600"/>
            <a:ext cx="3413760" cy="4389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1371600"/>
            <a:ext cx="341376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Shape 4"/>
          <p:cNvSpPr/>
          <p:nvPr/>
        </p:nvSpPr>
        <p:spPr>
          <a:xfrm>
            <a:off x="1908048" y="1737360"/>
            <a:ext cx="822960" cy="822960"/>
          </a:xfrm>
          <a:prstGeom prst="ellipse">
            <a:avLst/>
          </a:prstGeom>
          <a:solidFill>
            <a:srgbClr val="D4A84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0928" y="192024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2834640"/>
            <a:ext cx="313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2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95528" y="3291840"/>
            <a:ext cx="3048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alumni tracking system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connections after graduation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error-prone donation tracking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mentorship platform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event management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92168" y="1371600"/>
            <a:ext cx="3413760" cy="4389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92168" y="1371600"/>
            <a:ext cx="3413760" cy="73152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12" name="Shape 9"/>
          <p:cNvSpPr/>
          <p:nvPr/>
        </p:nvSpPr>
        <p:spPr>
          <a:xfrm>
            <a:off x="5687568" y="1737360"/>
            <a:ext cx="822960" cy="822960"/>
          </a:xfrm>
          <a:prstGeom prst="ellipse">
            <a:avLst/>
          </a:prstGeom>
          <a:solidFill>
            <a:srgbClr val="8E44AD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448" y="192024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29328" y="2834640"/>
            <a:ext cx="313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2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575048" y="3291840"/>
            <a:ext cx="3048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relational database system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Alumni information management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events &amp; donations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job &amp; mentorship support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Forum for ongoing engagement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171688" y="1371600"/>
            <a:ext cx="3413760" cy="4389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171688" y="1371600"/>
            <a:ext cx="3413760" cy="73152"/>
          </a:xfrm>
          <a:prstGeom prst="rect">
            <a:avLst/>
          </a:prstGeom>
          <a:solidFill>
            <a:srgbClr val="5B2C6F"/>
          </a:solidFill>
          <a:ln/>
        </p:spPr>
      </p:sp>
      <p:sp>
        <p:nvSpPr>
          <p:cNvPr id="18" name="Shape 14"/>
          <p:cNvSpPr/>
          <p:nvPr/>
        </p:nvSpPr>
        <p:spPr>
          <a:xfrm>
            <a:off x="9467088" y="1737360"/>
            <a:ext cx="822960" cy="822960"/>
          </a:xfrm>
          <a:prstGeom prst="ellipse">
            <a:avLst/>
          </a:prstGeom>
          <a:solidFill>
            <a:srgbClr val="5B2C6F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9968" y="192024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308848" y="2834640"/>
            <a:ext cx="313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2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8354568" y="3291840"/>
            <a:ext cx="3048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&amp; EER model diagrams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up to BCNF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relational schema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foreign key relationships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SQL views for reporting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0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5B2C6F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572000"/>
            <a:ext cx="3657600" cy="3657600"/>
          </a:xfrm>
          <a:prstGeom prst="ellipse">
            <a:avLst/>
          </a:prstGeom>
          <a:solidFill>
            <a:srgbClr val="8E44AD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0" y="-1371600"/>
            <a:ext cx="2286000" cy="2286000"/>
          </a:xfrm>
          <a:prstGeom prst="ellipse">
            <a:avLst/>
          </a:prstGeom>
          <a:solidFill>
            <a:srgbClr val="D4A843">
              <a:alpha val="3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029200" y="2560320"/>
            <a:ext cx="2130552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2743200"/>
            <a:ext cx="94457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ENTITY-RELATIONSHIP MODEL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371600" y="3931920"/>
            <a:ext cx="9445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D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Entities, Attributes, and Relationships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5B2C6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Types of Attributes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31520" cy="731520"/>
          </a:xfrm>
          <a:prstGeom prst="ellipse">
            <a:avLst/>
          </a:prstGeom>
          <a:solidFill>
            <a:srgbClr val="F5EEF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148590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13258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2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&amp; Composite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828800" y="16459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FirstName, Email (atomic)  |  Address = City + State + PinCode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31520" y="2560320"/>
            <a:ext cx="731520" cy="731520"/>
          </a:xfrm>
          <a:prstGeom prst="ellipse">
            <a:avLst/>
          </a:prstGeom>
          <a:solidFill>
            <a:srgbClr val="F5EEF8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" y="267462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828800" y="2514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2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Multi-valued &amp; Derived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828800" y="28346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Skills, PhoneNumbers (multiple values)  |  Age (calculated from DOB)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31520" y="3749040"/>
            <a:ext cx="731520" cy="731520"/>
          </a:xfrm>
          <a:prstGeom prst="ellipse">
            <a:avLst/>
          </a:prstGeom>
          <a:solidFill>
            <a:srgbClr val="F5EEF8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386334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828800" y="3703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2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&amp; NULL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828800" y="40233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PersonID (unique identifier)  |  LinkedInProfile (optional)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731520" y="4937760"/>
            <a:ext cx="731520" cy="731520"/>
          </a:xfrm>
          <a:prstGeom prst="ellipse">
            <a:avLst/>
          </a:prstGeom>
          <a:solidFill>
            <a:srgbClr val="F5EEF8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" y="5052060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828800" y="4892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2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&amp; Single-valued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828800" y="52120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GraduationYear (directly stored)  |  Email (one value per entity)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5B2C6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Strong Entities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455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6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6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Attributes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6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6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ALUMNI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AlumniID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FirstName, LastName, Email, GraduationYear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DeptName, DeptCode, HODPersonID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BatchYear, DeptID, Section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CompanyName, Industry, SizeID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SkillName, SkillCategory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EventName, EventTypeID, EventDate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DonationID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Amount, DonationDate, PaymentMethod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JobTitle, CompanyID, JobType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MENTORSHIP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MentorshipID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MentorID, MenteeID, StartDate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ForumID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ForumName, Category, CreatedBy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ForumID, AuthorID, Title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CommentID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PostID, AuthorID, ParentCommentID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5B2C6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Relationships — Core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455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6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Relationship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6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6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Participation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6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ALUMNI - DEPARTMENT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belongs_to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N:1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/ Partial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ALUMNI - BATCH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belongs_to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N:1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/ Partial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ALUMNI - COMPANY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works_at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N:1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/ Partial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ALUMNI - SKILL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M:N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/ Partial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ALUMNI - EVENT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M:N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/ Partial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ALUMNI - EVENT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organizes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/ Partial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ALUMNI - DONATION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/ Partial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ALUMNI - JOB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/ Partial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 - JOB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/ Partial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ALUMNI - MENTORSHIP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mentors (recursive)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/ 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5B2C6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Relationships — Content &amp; Forum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455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6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Relationship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6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6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Participation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6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ALUMNI - FORUM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/ 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FORUM - POST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/ 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ALUMNI - POST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/ 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- COMMENT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/ 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ALUMNI - COMMENT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/ 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COMMENT - COMMENT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replies_to (self-ref)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/ Partial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0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5B2C6F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572000"/>
            <a:ext cx="3657600" cy="3657600"/>
          </a:xfrm>
          <a:prstGeom prst="ellipse">
            <a:avLst/>
          </a:prstGeom>
          <a:solidFill>
            <a:srgbClr val="8E44AD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0" y="-1371600"/>
            <a:ext cx="2286000" cy="2286000"/>
          </a:xfrm>
          <a:prstGeom prst="ellipse">
            <a:avLst/>
          </a:prstGeom>
          <a:solidFill>
            <a:srgbClr val="D4A843">
              <a:alpha val="3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029200" y="2560320"/>
            <a:ext cx="2130552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2743200"/>
            <a:ext cx="94457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EXTENDED ER MODEL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371600" y="3931920"/>
            <a:ext cx="9445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D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Generalization, Specialization &amp; Aggregation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5B2C6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Generalization / Specialization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544824" cy="4846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3544824" cy="502920"/>
          </a:xfrm>
          <a:prstGeom prst="rect">
            <a:avLst/>
          </a:prstGeom>
          <a:solidFill>
            <a:srgbClr val="5B2C6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6732" y="1344168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965960"/>
            <a:ext cx="3179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2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Hierarchy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2423160"/>
            <a:ext cx="3087624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supertype → ALUMNI, STUDENT, ADMIN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Common: Name, Email, Phone, DOB, Gender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Disjoint + Total: every person is exactly one subtype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PersonID links supertype to subtypes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22064" y="1280160"/>
            <a:ext cx="3544824" cy="4846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22064" y="1280160"/>
            <a:ext cx="3544824" cy="502920"/>
          </a:xfrm>
          <a:prstGeom prst="rect">
            <a:avLst/>
          </a:prstGeom>
          <a:solidFill>
            <a:srgbClr val="8E44A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96" y="1344168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04944" y="1965960"/>
            <a:ext cx="3179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2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Hierarchies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50664" y="2423160"/>
            <a:ext cx="3087624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→ POST, COMMENT, REPLY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→ DONATION, EVENT_FEE, MEMBERSHIP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→ REUNION, WORKSHOP, SEMINAR, NETWORKING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→ FULL_TIME, PART_TIME, INTERNSHIP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86928" y="1280160"/>
            <a:ext cx="3544824" cy="4846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186928" y="1280160"/>
            <a:ext cx="3544824" cy="502920"/>
          </a:xfrm>
          <a:prstGeom prst="rect">
            <a:avLst/>
          </a:prstGeom>
          <a:solidFill>
            <a:srgbClr val="D4A84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6460" y="1344168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69808" y="1965960"/>
            <a:ext cx="3179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2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415528" y="2423160"/>
            <a:ext cx="3087624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Supertype table for shared attributes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Subtype tables with PK = FK to supertype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 triangle in ER diagram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separation of concerns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5B2C6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 Generalization Hierarchy</a:t>
            </a:r>
            <a:endParaRPr lang="en-US" sz="2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4552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3200400"/>
                <a:gridCol w="3959352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6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6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6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PersonID (PK), FirstName, LastName, Email, Phone, DOB, Gender, Address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ALUMNI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PersonID (PK,FK), GraduationYear, DeptID, BatchID, CurrentCompanyID, CurrentPosition, LinkedIn, IsActive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PersonID (PK,FK), StudentID, EnrollmentYear, DeptID, CurrentSemester, CGPA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5B2C6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Aggregation — MENTORSHIP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12648" y="1371600"/>
            <a:ext cx="3413760" cy="4389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1371600"/>
            <a:ext cx="341376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Shape 4"/>
          <p:cNvSpPr/>
          <p:nvPr/>
        </p:nvSpPr>
        <p:spPr>
          <a:xfrm>
            <a:off x="1908048" y="1737360"/>
            <a:ext cx="822960" cy="822960"/>
          </a:xfrm>
          <a:prstGeom prst="ellipse">
            <a:avLst/>
          </a:prstGeom>
          <a:solidFill>
            <a:srgbClr val="D4A84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0928" y="192024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2834640"/>
            <a:ext cx="313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2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95528" y="3291840"/>
            <a:ext cx="3048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Mentorship relates two ALUMNI entities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it carries its own attributes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store without aggregation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ER cannot express this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92168" y="1371600"/>
            <a:ext cx="3413760" cy="4389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92168" y="1371600"/>
            <a:ext cx="3413760" cy="73152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12" name="Shape 9"/>
          <p:cNvSpPr/>
          <p:nvPr/>
        </p:nvSpPr>
        <p:spPr>
          <a:xfrm>
            <a:off x="5687568" y="1737360"/>
            <a:ext cx="822960" cy="822960"/>
          </a:xfrm>
          <a:prstGeom prst="ellipse">
            <a:avLst/>
          </a:prstGeom>
          <a:solidFill>
            <a:srgbClr val="8E44AD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448" y="192024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29328" y="2834640"/>
            <a:ext cx="313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2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575048" y="3291840"/>
            <a:ext cx="3048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mentorship as higher-level entity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MentorshipID as Primary Key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MentorID &amp; MenteeID as Foreign Keys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relationship attributes preserved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171688" y="1371600"/>
            <a:ext cx="3413760" cy="4389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171688" y="1371600"/>
            <a:ext cx="3413760" cy="73152"/>
          </a:xfrm>
          <a:prstGeom prst="rect">
            <a:avLst/>
          </a:prstGeom>
          <a:solidFill>
            <a:srgbClr val="5B2C6F"/>
          </a:solidFill>
          <a:ln/>
        </p:spPr>
      </p:sp>
      <p:sp>
        <p:nvSpPr>
          <p:cNvPr id="18" name="Shape 14"/>
          <p:cNvSpPr/>
          <p:nvPr/>
        </p:nvSpPr>
        <p:spPr>
          <a:xfrm>
            <a:off x="9467088" y="1737360"/>
            <a:ext cx="822960" cy="822960"/>
          </a:xfrm>
          <a:prstGeom prst="ellipse">
            <a:avLst/>
          </a:prstGeom>
          <a:solidFill>
            <a:srgbClr val="5B2C6F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9968" y="192024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308848" y="2834640"/>
            <a:ext cx="313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2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Attributes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8354568" y="3291840"/>
            <a:ext cx="3048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StartDate, EndDate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Active / Completed / Paused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AreaID (FK to MENTORSHIP_AREA)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Goals, Feedback, Rating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0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5B2C6F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572000"/>
            <a:ext cx="3657600" cy="3657600"/>
          </a:xfrm>
          <a:prstGeom prst="ellipse">
            <a:avLst/>
          </a:prstGeom>
          <a:solidFill>
            <a:srgbClr val="8E44AD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0" y="-1371600"/>
            <a:ext cx="2286000" cy="2286000"/>
          </a:xfrm>
          <a:prstGeom prst="ellipse">
            <a:avLst/>
          </a:prstGeom>
          <a:solidFill>
            <a:srgbClr val="D4A843">
              <a:alpha val="3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029200" y="2560320"/>
            <a:ext cx="2130552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2743200"/>
            <a:ext cx="94457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NORMALIZATION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371600" y="3931920"/>
            <a:ext cx="9445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D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Eliminating Redundancy &amp; Preventing Anomalies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5B2C6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Normalize?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303520" cy="4846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5303520" cy="64008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600200"/>
            <a:ext cx="502920" cy="502920"/>
          </a:xfrm>
          <a:prstGeom prst="ellipse">
            <a:avLst/>
          </a:prstGeom>
          <a:solidFill>
            <a:srgbClr val="5B2C6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16459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2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Without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286000"/>
            <a:ext cx="45720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DeptName change requires updating 100s of rows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add a department without alumni data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Deleting last alumni loses department info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repeated everywhere wastes space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anomalies corrupt consistency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28232" y="1280160"/>
            <a:ext cx="5303520" cy="4846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28232" y="1280160"/>
            <a:ext cx="5303520" cy="6400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2" name="Shape 10"/>
          <p:cNvSpPr/>
          <p:nvPr/>
        </p:nvSpPr>
        <p:spPr>
          <a:xfrm>
            <a:off x="6702552" y="1600200"/>
            <a:ext cx="502920" cy="5029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3" name="Text 11"/>
          <p:cNvSpPr/>
          <p:nvPr/>
        </p:nvSpPr>
        <p:spPr>
          <a:xfrm>
            <a:off x="6702552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88352" y="16459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2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With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976872" y="2286000"/>
            <a:ext cx="44805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fact stored in exactly one place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propagate through foreign keys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update, insertion, or deletion anomalies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Referential integrity enforced by DBMS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predictable query performance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5B2C6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Normal Form (1NF)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303520" cy="4846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5303520" cy="64008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600200"/>
            <a:ext cx="502920" cy="502920"/>
          </a:xfrm>
          <a:prstGeom prst="ellipse">
            <a:avLst/>
          </a:prstGeom>
          <a:solidFill>
            <a:srgbClr val="5B2C6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16459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2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286000"/>
            <a:ext cx="45720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attribute values must be atomic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multi-valued attributes in a column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repeating groups or nested tables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row-column intersection has one value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28232" y="1280160"/>
            <a:ext cx="5303520" cy="4846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28232" y="1280160"/>
            <a:ext cx="5303520" cy="6400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2" name="Shape 10"/>
          <p:cNvSpPr/>
          <p:nvPr/>
        </p:nvSpPr>
        <p:spPr>
          <a:xfrm>
            <a:off x="6702552" y="1600200"/>
            <a:ext cx="502920" cy="5029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3" name="Text 11"/>
          <p:cNvSpPr/>
          <p:nvPr/>
        </p:nvSpPr>
        <p:spPr>
          <a:xfrm>
            <a:off x="6702552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88352" y="16459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2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Fixes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976872" y="2286000"/>
            <a:ext cx="44805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→ ALUMNI_SKILL junction table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→ EVENT_REGISTRATION junction table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→ decomposed to City, State, PinCode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atomic values throughout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5B2C6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2NF and 3NF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303520" cy="4846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5303520" cy="64008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600200"/>
            <a:ext cx="502920" cy="502920"/>
          </a:xfrm>
          <a:prstGeom prst="ellipse">
            <a:avLst/>
          </a:prstGeom>
          <a:solidFill>
            <a:srgbClr val="5B2C6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16459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2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2NF — No Partial Dependencies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286000"/>
            <a:ext cx="45720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tables have a single-column primary key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non-prime attribute depends on part of a key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satisfied in our design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determinant is the full key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28232" y="1280160"/>
            <a:ext cx="5303520" cy="4846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28232" y="1280160"/>
            <a:ext cx="5303520" cy="6400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2" name="Shape 10"/>
          <p:cNvSpPr/>
          <p:nvPr/>
        </p:nvSpPr>
        <p:spPr>
          <a:xfrm>
            <a:off x="6702552" y="1600200"/>
            <a:ext cx="502920" cy="5029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3" name="Text 11"/>
          <p:cNvSpPr/>
          <p:nvPr/>
        </p:nvSpPr>
        <p:spPr>
          <a:xfrm>
            <a:off x="6702552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88352" y="16459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2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3NF — No Transitive Dependencies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976872" y="2286000"/>
            <a:ext cx="44805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DeptName depended on DeptID, not the PK → fixed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Separated DEPARTMENT as its own table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HODName → HODPersonID FK (removed transitive dep)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EventType → EVENT_TYPE lookup table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5B2C6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BCNF and Beyond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12648" y="1371600"/>
            <a:ext cx="3413760" cy="4389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1371600"/>
            <a:ext cx="3413760" cy="7315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6" name="Shape 4"/>
          <p:cNvSpPr/>
          <p:nvPr/>
        </p:nvSpPr>
        <p:spPr>
          <a:xfrm>
            <a:off x="1908048" y="1737360"/>
            <a:ext cx="822960" cy="822960"/>
          </a:xfrm>
          <a:prstGeom prst="ellipse">
            <a:avLst/>
          </a:prstGeom>
          <a:solidFill>
            <a:srgbClr val="27AE6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0928" y="192024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2834640"/>
            <a:ext cx="313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2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BCNF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95528" y="3291840"/>
            <a:ext cx="3048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determinant must be a candidate key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Stricter than 3NF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15 core tables satisfy BCNF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remaining anomalies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92168" y="1371600"/>
            <a:ext cx="3413760" cy="4389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92168" y="1371600"/>
            <a:ext cx="3413760" cy="73152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12" name="Shape 9"/>
          <p:cNvSpPr/>
          <p:nvPr/>
        </p:nvSpPr>
        <p:spPr>
          <a:xfrm>
            <a:off x="5687568" y="1737360"/>
            <a:ext cx="822960" cy="822960"/>
          </a:xfrm>
          <a:prstGeom prst="ellipse">
            <a:avLst/>
          </a:prstGeom>
          <a:solidFill>
            <a:srgbClr val="8E44AD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448" y="192024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29328" y="2834640"/>
            <a:ext cx="313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2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4NF Verification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575048" y="3291840"/>
            <a:ext cx="3048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multi-valued dependencies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Multi-valued attrs decomposed to junction tables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ALUMNI_SKILL, EVENT_REGISTRATION, JOB_APPLICATION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M:N resolution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171688" y="1371600"/>
            <a:ext cx="3413760" cy="4389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171688" y="1371600"/>
            <a:ext cx="3413760" cy="73152"/>
          </a:xfrm>
          <a:prstGeom prst="rect">
            <a:avLst/>
          </a:prstGeom>
          <a:solidFill>
            <a:srgbClr val="5B2C6F"/>
          </a:solidFill>
          <a:ln/>
        </p:spPr>
      </p:sp>
      <p:sp>
        <p:nvSpPr>
          <p:cNvPr id="18" name="Shape 14"/>
          <p:cNvSpPr/>
          <p:nvPr/>
        </p:nvSpPr>
        <p:spPr>
          <a:xfrm>
            <a:off x="9467088" y="1737360"/>
            <a:ext cx="822960" cy="822960"/>
          </a:xfrm>
          <a:prstGeom prst="ellipse">
            <a:avLst/>
          </a:prstGeom>
          <a:solidFill>
            <a:srgbClr val="5B2C6F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9968" y="192024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308848" y="2834640"/>
            <a:ext cx="313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2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5NF Verification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8354568" y="3291840"/>
            <a:ext cx="3048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join dependencies implied by candidate keys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further lossless decomposition possible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20 fully normalized tables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production use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5B2C6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Normalization Summary (V2)</a:t>
            </a:r>
            <a:endParaRPr lang="en-US" sz="2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455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6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1NF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6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2NF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6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3NF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6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BCNF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6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 Change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6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ALUMNI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Decomposed transitive deps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HODName → HODPersonID FK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attribute PK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CompanySize → SizeID FK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attribute PK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EventType → EventTypeID FK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attribute PK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Decomposed transitive deps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MENTORSHIP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MentorshipArea → AreaID FK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attribute PK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LikesCount denormalized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Self-referencing FK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ALUMNI_SKILL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Junction table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EVENT_REGISTRATION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Junction table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JOB_APPLICATION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in V2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Subtype of PERSON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Subtype of PERSON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0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5B2C6F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572000"/>
            <a:ext cx="3657600" cy="3657600"/>
          </a:xfrm>
          <a:prstGeom prst="ellipse">
            <a:avLst/>
          </a:prstGeom>
          <a:solidFill>
            <a:srgbClr val="8E44AD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0" y="-1371600"/>
            <a:ext cx="2286000" cy="2286000"/>
          </a:xfrm>
          <a:prstGeom prst="ellipse">
            <a:avLst/>
          </a:prstGeom>
          <a:solidFill>
            <a:srgbClr val="D4A843">
              <a:alpha val="3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029200" y="2560320"/>
            <a:ext cx="2130552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2743200"/>
            <a:ext cx="94457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RELATIONAL SCHEMA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371600" y="3931920"/>
            <a:ext cx="9445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D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Tables, Constraints &amp; Referential Integrity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5B2C6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Tables</a:t>
            </a:r>
            <a:endParaRPr lang="en-US" sz="2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4552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6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6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 Keys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6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ALUMNI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PersonID, DeptID, BatchID, CurrentCompanyID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PersonID, DeptID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HODPersonID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EventTypeID, OrganizerID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DonationID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DonorID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CompanyID, PostedBy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MENTORSHIP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MentorshipID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MentorID, MenteeID, AreaID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ForumID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CreatedBy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ForumID, AuthorID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CommentID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PostID, AuthorID, ParentCommentID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5B2C6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Lookup &amp; Junction Tables</a:t>
            </a:r>
            <a:endParaRPr lang="en-US" sz="24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455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6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6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Columns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6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6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EVENT_TYPE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Lookup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TypeID, TypeName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 categories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COMPANY_SIZE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Lookup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SizeID, SizeRange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 sizes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MENTORSHIP_AREA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Lookup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AreaID, AreaName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Mentorship areas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ALUMNI_SKILL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AlumniID, SkillID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M:N skills resolver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EVENT_REGISTRATION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AlumniID, EventID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M:N event attendance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JOB_APPLICATION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ApplicationID, JobID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M:N job applications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5B2C6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Constraints Applied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31520" cy="731520"/>
          </a:xfrm>
          <a:prstGeom prst="ellipse">
            <a:avLst/>
          </a:prstGeom>
          <a:solidFill>
            <a:srgbClr val="F5EEF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148590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13258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2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Constraints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828800" y="16459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Keys on all 20 tables | UNIQUE on Email, StudentID, TransactionID | CHECK for validation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31520" y="2560320"/>
            <a:ext cx="731520" cy="731520"/>
          </a:xfrm>
          <a:prstGeom prst="ellipse">
            <a:avLst/>
          </a:prstGeom>
          <a:solidFill>
            <a:srgbClr val="F5EEF8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" y="267462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828800" y="2514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2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Referential Integrity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828800" y="28346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foreign key relationships with CASCADE, RESTRICT, and SET NULL actions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31520" y="3749040"/>
            <a:ext cx="731520" cy="731520"/>
          </a:xfrm>
          <a:prstGeom prst="ellipse">
            <a:avLst/>
          </a:prstGeom>
          <a:solidFill>
            <a:srgbClr val="F5EEF8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386334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828800" y="3703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2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Constraints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828800" y="40233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 on required fields | Enumerated types for Status, Gender, PaymentMethod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731520" y="4937760"/>
            <a:ext cx="731520" cy="731520"/>
          </a:xfrm>
          <a:prstGeom prst="ellipse">
            <a:avLst/>
          </a:prstGeom>
          <a:solidFill>
            <a:srgbClr val="F5EEF8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" y="5052060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828800" y="4892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2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Views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828800" y="52120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AlumniProfileView | EventSummaryView | DonationSummaryView for common queries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5B2C6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537460" cy="4754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2537460" cy="54864"/>
          </a:xfrm>
          <a:prstGeom prst="rect">
            <a:avLst/>
          </a:prstGeom>
          <a:solidFill>
            <a:srgbClr val="5B2C6F"/>
          </a:solidFill>
          <a:ln/>
        </p:spPr>
      </p:sp>
      <p:sp>
        <p:nvSpPr>
          <p:cNvPr id="6" name="Shape 4"/>
          <p:cNvSpPr/>
          <p:nvPr/>
        </p:nvSpPr>
        <p:spPr>
          <a:xfrm>
            <a:off x="1360170" y="1645920"/>
            <a:ext cx="731520" cy="731520"/>
          </a:xfrm>
          <a:prstGeom prst="ellipse">
            <a:avLst/>
          </a:prstGeom>
          <a:solidFill>
            <a:srgbClr val="5B2C6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762" y="1810512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606040"/>
            <a:ext cx="2354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2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Model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" y="3017520"/>
            <a:ext cx="22631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8 attribute types demonstrated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strong entities defined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relationships with cardinality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participation constraints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68980" y="1280160"/>
            <a:ext cx="2537460" cy="4754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68980" y="1280160"/>
            <a:ext cx="2537460" cy="54864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12" name="Shape 9"/>
          <p:cNvSpPr/>
          <p:nvPr/>
        </p:nvSpPr>
        <p:spPr>
          <a:xfrm>
            <a:off x="4171950" y="1645920"/>
            <a:ext cx="731520" cy="731520"/>
          </a:xfrm>
          <a:prstGeom prst="ellipse">
            <a:avLst/>
          </a:prstGeom>
          <a:solidFill>
            <a:srgbClr val="8E44AD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6542" y="1810512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60420" y="2606040"/>
            <a:ext cx="2354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2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 Model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406140" y="3017520"/>
            <a:ext cx="22631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generalization hierarchies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PERSON/CONTENT/TRANSACTION/EVENT/JOB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 with disjoint + total constraints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for MENTORSHIP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080760" y="1280160"/>
            <a:ext cx="2537460" cy="4754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080760" y="1280160"/>
            <a:ext cx="2537460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8" name="Shape 14"/>
          <p:cNvSpPr/>
          <p:nvPr/>
        </p:nvSpPr>
        <p:spPr>
          <a:xfrm>
            <a:off x="6983730" y="1645920"/>
            <a:ext cx="731520" cy="731520"/>
          </a:xfrm>
          <a:prstGeom prst="ellipse">
            <a:avLst/>
          </a:prstGeom>
          <a:solidFill>
            <a:srgbClr val="27AE60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8322" y="1810512"/>
            <a:ext cx="402336" cy="40233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172200" y="2606040"/>
            <a:ext cx="2354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2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217920" y="3017520"/>
            <a:ext cx="22631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18 tables in BCNF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 tables for domain values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Junction tables for M:N relations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refinements applied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8892540" y="1280160"/>
            <a:ext cx="2537460" cy="4754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892540" y="1280160"/>
            <a:ext cx="253746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4" name="Shape 19"/>
          <p:cNvSpPr/>
          <p:nvPr/>
        </p:nvSpPr>
        <p:spPr>
          <a:xfrm>
            <a:off x="9795510" y="1645920"/>
            <a:ext cx="731520" cy="731520"/>
          </a:xfrm>
          <a:prstGeom prst="ellipse">
            <a:avLst/>
          </a:prstGeom>
          <a:solidFill>
            <a:srgbClr val="D4A843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0102" y="1810512"/>
            <a:ext cx="402336" cy="40233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983980" y="2606040"/>
            <a:ext cx="2354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2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9029700" y="3017520"/>
            <a:ext cx="22631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tables with constraints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foreign key relationships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Referential integrity enforced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SQL views for reporting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5B2C6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1274552" cy="4846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554480"/>
            <a:ext cx="10360152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000"/>
              </a:spcAft>
            </a:pPr>
            <a:r>
              <a:rPr lang="en-US" sz="14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Silberschatz, Korth &amp; Sudarshan — Database System Concepts (7th ed.)</a:t>
            </a:r>
            <a:endParaRPr lang="en-US" sz="1400" dirty="0"/>
          </a:p>
          <a:p>
            <a:pPr>
              <a:spcAft>
                <a:spcPts val="1000"/>
              </a:spcAft>
            </a:pPr>
            <a:r>
              <a:rPr lang="en-US" sz="14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Elmasri &amp; Navathe — Fundamentals of Database Systems (7th ed.)</a:t>
            </a:r>
            <a:endParaRPr lang="en-US" sz="1400" dirty="0"/>
          </a:p>
          <a:p>
            <a:pPr>
              <a:spcAft>
                <a:spcPts val="1000"/>
              </a:spcAft>
            </a:pPr>
            <a:r>
              <a:rPr lang="en-US" sz="14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Connolly &amp; Begg — Database Systems: A Practical Approach (6th ed.)</a:t>
            </a:r>
            <a:endParaRPr lang="en-US" sz="1400" dirty="0"/>
          </a:p>
          <a:p>
            <a:pPr>
              <a:spcAft>
                <a:spcPts val="1000"/>
              </a:spcAft>
            </a:pPr>
            <a:r>
              <a:rPr lang="en-US" sz="14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C.J. Date — An Introduction to Database Systems (8th ed.)</a:t>
            </a:r>
            <a:endParaRPr lang="en-US" sz="1400" dirty="0"/>
          </a:p>
          <a:p>
            <a:pPr>
              <a:spcAft>
                <a:spcPts val="1000"/>
              </a:spcAft>
            </a:pPr>
            <a:r>
              <a:rPr lang="en-US" sz="14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Ramakrishnan &amp; Gehrke — Database Management Systems (3rd ed.)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0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114800" cy="4114800"/>
          </a:xfrm>
          <a:prstGeom prst="ellipse">
            <a:avLst/>
          </a:prstGeom>
          <a:solidFill>
            <a:srgbClr val="5B2C6F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3657600"/>
            <a:ext cx="4572000" cy="4572000"/>
          </a:xfrm>
          <a:prstGeom prst="ellipse">
            <a:avLst/>
          </a:prstGeom>
          <a:solidFill>
            <a:srgbClr val="8E44AD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0" y="-1828800"/>
            <a:ext cx="2286000" cy="2286000"/>
          </a:xfrm>
          <a:prstGeom prst="ellipse">
            <a:avLst/>
          </a:prstGeom>
          <a:solidFill>
            <a:srgbClr val="D4A843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029200" y="1828800"/>
            <a:ext cx="2130552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03120"/>
            <a:ext cx="10360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spc="6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914400" y="329184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D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743200" y="4389120"/>
            <a:ext cx="6702552" cy="1463040"/>
          </a:xfrm>
          <a:prstGeom prst="rect">
            <a:avLst/>
          </a:prstGeom>
          <a:solidFill>
            <a:srgbClr val="5B2C6F">
              <a:alpha val="5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926080" y="4526280"/>
            <a:ext cx="6336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Sagarika Kaistha (25BCE5091)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926080" y="4846320"/>
            <a:ext cx="6336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Praveen G (25BCE5092)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26080" y="5166360"/>
            <a:ext cx="6336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Daksh Agarwal (25BCE5098)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Alumni Network and Engagement Platform</dc:title>
  <dc:subject>PptxGenJS Presentation</dc:subject>
  <dc:creator>Sagarika Kaistha, Praveen G, Daksh Agarwal</dc:creator>
  <cp:lastModifiedBy>Sagarika Kaistha, Praveen G, Daksh Agarwal</cp:lastModifiedBy>
  <cp:revision>1</cp:revision>
  <dcterms:created xsi:type="dcterms:W3CDTF">2026-07-29T15:28:24Z</dcterms:created>
  <dcterms:modified xsi:type="dcterms:W3CDTF">2026-07-29T15:28:24Z</dcterms:modified>
</cp:coreProperties>
</file>